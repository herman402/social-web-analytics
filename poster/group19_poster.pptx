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Agrandir Bold" charset="1" panose="00000800000000000000"/>
      <p:regular r:id="rId7"/>
    </p:embeddedFont>
    <p:embeddedFont>
      <p:font typeface="Canva Sans Bold" charset="1" panose="020B0803030501040103"/>
      <p:regular r:id="rId8"/>
    </p:embeddedFont>
    <p:embeddedFont>
      <p:font typeface="Sanchez" charset="1" panose="02000000000000000000"/>
      <p:regular r:id="rId9"/>
    </p:embeddedFont>
    <p:embeddedFont>
      <p:font typeface="Sanchez Italics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jpeg" Type="http://schemas.openxmlformats.org/officeDocument/2006/relationships/image"/><Relationship Id="rId14" Target="../media/image13.jpe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84" y="120584"/>
            <a:ext cx="780145" cy="384871"/>
          </a:xfrm>
          <a:custGeom>
            <a:avLst/>
            <a:gdLst/>
            <a:ahLst/>
            <a:cxnLst/>
            <a:rect r="r" b="b" t="t" l="l"/>
            <a:pathLst>
              <a:path h="384871" w="780145">
                <a:moveTo>
                  <a:pt x="0" y="0"/>
                </a:moveTo>
                <a:lnTo>
                  <a:pt x="780145" y="0"/>
                </a:lnTo>
                <a:lnTo>
                  <a:pt x="780145" y="384872"/>
                </a:lnTo>
                <a:lnTo>
                  <a:pt x="0" y="384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14379" y="0"/>
            <a:ext cx="16918945" cy="12335449"/>
          </a:xfrm>
          <a:custGeom>
            <a:avLst/>
            <a:gdLst/>
            <a:ahLst/>
            <a:cxnLst/>
            <a:rect r="r" b="b" t="t" l="l"/>
            <a:pathLst>
              <a:path h="12335449" w="16918945">
                <a:moveTo>
                  <a:pt x="0" y="0"/>
                </a:moveTo>
                <a:lnTo>
                  <a:pt x="16918945" y="0"/>
                </a:lnTo>
                <a:lnTo>
                  <a:pt x="16918945" y="12335449"/>
                </a:lnTo>
                <a:lnTo>
                  <a:pt x="0" y="12335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68799"/>
            <a:ext cx="7560000" cy="818244"/>
            <a:chOff x="0" y="0"/>
            <a:chExt cx="2709333" cy="293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293240"/>
            </a:xfrm>
            <a:custGeom>
              <a:avLst/>
              <a:gdLst/>
              <a:ahLst/>
              <a:cxnLst/>
              <a:rect r="r" b="b" t="t" l="l"/>
              <a:pathLst>
                <a:path h="29324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93240"/>
                  </a:lnTo>
                  <a:lnTo>
                    <a:pt x="0" y="29324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709333" cy="417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BF63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Generative AI</a:t>
              </a:r>
              <a:r>
                <a:rPr lang="en-US" b="true" sz="2500">
                  <a:solidFill>
                    <a:srgbClr val="7ED957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Discussions</a:t>
              </a:r>
              <a:r>
                <a:rPr lang="en-US" b="true" sz="2500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on </a:t>
              </a:r>
              <a:r>
                <a:rPr lang="en-US" b="true" sz="2500">
                  <a:solidFill>
                    <a:srgbClr val="38B6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Bluesky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048000" y="8329692"/>
            <a:ext cx="3024000" cy="4229371"/>
          </a:xfrm>
          <a:custGeom>
            <a:avLst/>
            <a:gdLst/>
            <a:ahLst/>
            <a:cxnLst/>
            <a:rect r="r" b="b" t="t" l="l"/>
            <a:pathLst>
              <a:path h="4229371" w="3024000">
                <a:moveTo>
                  <a:pt x="0" y="0"/>
                </a:moveTo>
                <a:lnTo>
                  <a:pt x="3024000" y="0"/>
                </a:lnTo>
                <a:lnTo>
                  <a:pt x="3024000" y="4229371"/>
                </a:lnTo>
                <a:lnTo>
                  <a:pt x="0" y="4229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514981"/>
            <a:ext cx="75600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 b="true">
                <a:solidFill>
                  <a:srgbClr val="5B59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19  • Tim Carino - Arend Chandra - Yat Cheng  • COMP3020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-1067796" y="-2474220"/>
            <a:ext cx="3024000" cy="4229371"/>
          </a:xfrm>
          <a:custGeom>
            <a:avLst/>
            <a:gdLst/>
            <a:ahLst/>
            <a:cxnLst/>
            <a:rect r="r" b="b" t="t" l="l"/>
            <a:pathLst>
              <a:path h="4229371" w="3024000">
                <a:moveTo>
                  <a:pt x="0" y="0"/>
                </a:moveTo>
                <a:lnTo>
                  <a:pt x="3024000" y="0"/>
                </a:lnTo>
                <a:lnTo>
                  <a:pt x="3024000" y="4229370"/>
                </a:lnTo>
                <a:lnTo>
                  <a:pt x="0" y="4229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73203">
            <a:off x="-5360634" y="3608892"/>
            <a:ext cx="19852665" cy="3474216"/>
          </a:xfrm>
          <a:custGeom>
            <a:avLst/>
            <a:gdLst/>
            <a:ahLst/>
            <a:cxnLst/>
            <a:rect r="r" b="b" t="t" l="l"/>
            <a:pathLst>
              <a:path h="3474216" w="19852665">
                <a:moveTo>
                  <a:pt x="0" y="0"/>
                </a:moveTo>
                <a:lnTo>
                  <a:pt x="19852666" y="0"/>
                </a:lnTo>
                <a:lnTo>
                  <a:pt x="19852666" y="3474216"/>
                </a:lnTo>
                <a:lnTo>
                  <a:pt x="0" y="34742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920707">
            <a:off x="6114058" y="7941231"/>
            <a:ext cx="383432" cy="126533"/>
          </a:xfrm>
          <a:custGeom>
            <a:avLst/>
            <a:gdLst/>
            <a:ahLst/>
            <a:cxnLst/>
            <a:rect r="r" b="b" t="t" l="l"/>
            <a:pathLst>
              <a:path h="126533" w="383432">
                <a:moveTo>
                  <a:pt x="0" y="126533"/>
                </a:moveTo>
                <a:lnTo>
                  <a:pt x="383432" y="126533"/>
                </a:lnTo>
                <a:lnTo>
                  <a:pt x="383432" y="0"/>
                </a:lnTo>
                <a:lnTo>
                  <a:pt x="0" y="0"/>
                </a:lnTo>
                <a:lnTo>
                  <a:pt x="0" y="126533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59104">
            <a:off x="3738238" y="10475747"/>
            <a:ext cx="383432" cy="126533"/>
          </a:xfrm>
          <a:custGeom>
            <a:avLst/>
            <a:gdLst/>
            <a:ahLst/>
            <a:cxnLst/>
            <a:rect r="r" b="b" t="t" l="l"/>
            <a:pathLst>
              <a:path h="126533" w="383432">
                <a:moveTo>
                  <a:pt x="0" y="0"/>
                </a:moveTo>
                <a:lnTo>
                  <a:pt x="383432" y="0"/>
                </a:lnTo>
                <a:lnTo>
                  <a:pt x="383432" y="126533"/>
                </a:lnTo>
                <a:lnTo>
                  <a:pt x="0" y="126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26518" y="7963687"/>
            <a:ext cx="3453482" cy="2196105"/>
          </a:xfrm>
          <a:custGeom>
            <a:avLst/>
            <a:gdLst/>
            <a:ahLst/>
            <a:cxnLst/>
            <a:rect r="r" b="b" t="t" l="l"/>
            <a:pathLst>
              <a:path h="2196105" w="3453482">
                <a:moveTo>
                  <a:pt x="0" y="0"/>
                </a:moveTo>
                <a:lnTo>
                  <a:pt x="3453482" y="0"/>
                </a:lnTo>
                <a:lnTo>
                  <a:pt x="3453482" y="2196105"/>
                </a:lnTo>
                <a:lnTo>
                  <a:pt x="0" y="2196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86" t="-3862" r="-7387" b="-316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55715" y="3409542"/>
            <a:ext cx="2260722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Network analysis</a:t>
            </a:r>
          </a:p>
        </p:txBody>
      </p:sp>
      <p:sp>
        <p:nvSpPr>
          <p:cNvPr name="AutoShape 15" id="15"/>
          <p:cNvSpPr/>
          <p:nvPr/>
        </p:nvSpPr>
        <p:spPr>
          <a:xfrm flipH="true">
            <a:off x="175085" y="7858422"/>
            <a:ext cx="7266603" cy="0"/>
          </a:xfrm>
          <a:prstGeom prst="line">
            <a:avLst/>
          </a:prstGeom>
          <a:ln cap="flat" w="9525">
            <a:solidFill>
              <a:srgbClr val="000000">
                <a:alpha val="4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true" rot="600244">
            <a:off x="4947269" y="3398924"/>
            <a:ext cx="383432" cy="126533"/>
          </a:xfrm>
          <a:custGeom>
            <a:avLst/>
            <a:gdLst/>
            <a:ahLst/>
            <a:cxnLst/>
            <a:rect r="r" b="b" t="t" l="l"/>
            <a:pathLst>
              <a:path h="126533" w="383432">
                <a:moveTo>
                  <a:pt x="0" y="126533"/>
                </a:moveTo>
                <a:lnTo>
                  <a:pt x="383432" y="126533"/>
                </a:lnTo>
                <a:lnTo>
                  <a:pt x="383432" y="0"/>
                </a:lnTo>
                <a:lnTo>
                  <a:pt x="0" y="0"/>
                </a:lnTo>
                <a:lnTo>
                  <a:pt x="0" y="126533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665333" y="3818510"/>
            <a:ext cx="2947303" cy="2193017"/>
          </a:xfrm>
          <a:custGeom>
            <a:avLst/>
            <a:gdLst/>
            <a:ahLst/>
            <a:cxnLst/>
            <a:rect r="r" b="b" t="t" l="l"/>
            <a:pathLst>
              <a:path h="2193017" w="2947303">
                <a:moveTo>
                  <a:pt x="0" y="0"/>
                </a:moveTo>
                <a:lnTo>
                  <a:pt x="2947303" y="0"/>
                </a:lnTo>
                <a:lnTo>
                  <a:pt x="2947303" y="2193017"/>
                </a:lnTo>
                <a:lnTo>
                  <a:pt x="0" y="21930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1840" t="-4738" r="-5331" b="-2006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992237" y="8607505"/>
            <a:ext cx="3449452" cy="1780345"/>
            <a:chOff x="0" y="0"/>
            <a:chExt cx="1452153" cy="7494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52153" cy="749491"/>
            </a:xfrm>
            <a:custGeom>
              <a:avLst/>
              <a:gdLst/>
              <a:ahLst/>
              <a:cxnLst/>
              <a:rect r="r" b="b" t="t" l="l"/>
              <a:pathLst>
                <a:path h="749491" w="1452153">
                  <a:moveTo>
                    <a:pt x="0" y="0"/>
                  </a:moveTo>
                  <a:lnTo>
                    <a:pt x="1452153" y="0"/>
                  </a:lnTo>
                  <a:lnTo>
                    <a:pt x="1452153" y="749491"/>
                  </a:lnTo>
                  <a:lnTo>
                    <a:pt x="0" y="749491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452153" cy="759016"/>
            </a:xfrm>
            <a:prstGeom prst="rect">
              <a:avLst/>
            </a:prstGeom>
          </p:spPr>
          <p:txBody>
            <a:bodyPr anchor="ctr" rtlCol="false" tIns="43246" lIns="43246" bIns="43246" rIns="43246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 flipV="true">
            <a:off x="3584949" y="3366581"/>
            <a:ext cx="0" cy="4371277"/>
          </a:xfrm>
          <a:prstGeom prst="line">
            <a:avLst/>
          </a:prstGeom>
          <a:ln cap="flat" w="9525">
            <a:solidFill>
              <a:srgbClr val="000000">
                <a:alpha val="4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75085" y="3328851"/>
            <a:ext cx="7266603" cy="0"/>
          </a:xfrm>
          <a:prstGeom prst="line">
            <a:avLst/>
          </a:prstGeom>
          <a:ln cap="flat" w="9525">
            <a:solidFill>
              <a:srgbClr val="000000">
                <a:alpha val="4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0" y="4089586"/>
            <a:ext cx="1872192" cy="1473016"/>
          </a:xfrm>
          <a:custGeom>
            <a:avLst/>
            <a:gdLst/>
            <a:ahLst/>
            <a:cxnLst/>
            <a:rect r="r" b="b" t="t" l="l"/>
            <a:pathLst>
              <a:path h="1473016" w="1872192">
                <a:moveTo>
                  <a:pt x="0" y="0"/>
                </a:moveTo>
                <a:lnTo>
                  <a:pt x="1872192" y="0"/>
                </a:lnTo>
                <a:lnTo>
                  <a:pt x="1872192" y="1473015"/>
                </a:lnTo>
                <a:lnTo>
                  <a:pt x="0" y="1473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043200" y="842014"/>
            <a:ext cx="214967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Text/Content Analysis &amp; Visualisation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4204" y="3490569"/>
            <a:ext cx="872527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 Clustering</a:t>
            </a:r>
          </a:p>
        </p:txBody>
      </p:sp>
      <p:sp>
        <p:nvSpPr>
          <p:cNvPr name="Freeform 26" id="26"/>
          <p:cNvSpPr/>
          <p:nvPr/>
        </p:nvSpPr>
        <p:spPr>
          <a:xfrm flipH="false" flipV="true" rot="780769">
            <a:off x="1250033" y="3461369"/>
            <a:ext cx="390427" cy="128841"/>
          </a:xfrm>
          <a:custGeom>
            <a:avLst/>
            <a:gdLst/>
            <a:ahLst/>
            <a:cxnLst/>
            <a:rect r="r" b="b" t="t" l="l"/>
            <a:pathLst>
              <a:path h="128841" w="390427">
                <a:moveTo>
                  <a:pt x="0" y="128841"/>
                </a:moveTo>
                <a:lnTo>
                  <a:pt x="390427" y="128841"/>
                </a:lnTo>
                <a:lnTo>
                  <a:pt x="390427" y="0"/>
                </a:lnTo>
                <a:lnTo>
                  <a:pt x="0" y="0"/>
                </a:lnTo>
                <a:lnTo>
                  <a:pt x="0" y="12884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8580" y="2515630"/>
            <a:ext cx="2860526" cy="76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Data preparation</a:t>
            </a:r>
          </a:p>
          <a:p>
            <a:pPr algn="l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Posts were combined into a text corpus and cleaned by removing URLs, numbers, punctuation, English stop words, AI topic names and additional unwanted words, then converted to lowercase and stemmed.</a:t>
            </a:r>
          </a:p>
        </p:txBody>
      </p:sp>
      <p:sp>
        <p:nvSpPr>
          <p:cNvPr name="AutoShape 28" id="28"/>
          <p:cNvSpPr/>
          <p:nvPr/>
        </p:nvSpPr>
        <p:spPr>
          <a:xfrm flipH="true" flipV="true">
            <a:off x="2954343" y="851539"/>
            <a:ext cx="4762" cy="2430216"/>
          </a:xfrm>
          <a:prstGeom prst="line">
            <a:avLst/>
          </a:prstGeom>
          <a:ln cap="flat" w="9525">
            <a:solidFill>
              <a:srgbClr val="000000">
                <a:alpha val="4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true" rot="600244">
            <a:off x="4923940" y="956267"/>
            <a:ext cx="383432" cy="126533"/>
          </a:xfrm>
          <a:custGeom>
            <a:avLst/>
            <a:gdLst/>
            <a:ahLst/>
            <a:cxnLst/>
            <a:rect r="r" b="b" t="t" l="l"/>
            <a:pathLst>
              <a:path h="126533" w="383432">
                <a:moveTo>
                  <a:pt x="0" y="126532"/>
                </a:moveTo>
                <a:lnTo>
                  <a:pt x="383432" y="126532"/>
                </a:lnTo>
                <a:lnTo>
                  <a:pt x="383432" y="0"/>
                </a:lnTo>
                <a:lnTo>
                  <a:pt x="0" y="0"/>
                </a:lnTo>
                <a:lnTo>
                  <a:pt x="0" y="126532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2784" y="5572126"/>
            <a:ext cx="1874975" cy="1475206"/>
          </a:xfrm>
          <a:custGeom>
            <a:avLst/>
            <a:gdLst/>
            <a:ahLst/>
            <a:cxnLst/>
            <a:rect r="r" b="b" t="t" l="l"/>
            <a:pathLst>
              <a:path h="1475206" w="1874975">
                <a:moveTo>
                  <a:pt x="0" y="0"/>
                </a:moveTo>
                <a:lnTo>
                  <a:pt x="1874976" y="0"/>
                </a:lnTo>
                <a:lnTo>
                  <a:pt x="1874976" y="1475206"/>
                </a:lnTo>
                <a:lnTo>
                  <a:pt x="0" y="14752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716963" y="5488276"/>
            <a:ext cx="1894728" cy="1409076"/>
          </a:xfrm>
          <a:custGeom>
            <a:avLst/>
            <a:gdLst/>
            <a:ahLst/>
            <a:cxnLst/>
            <a:rect r="r" b="b" t="t" l="l"/>
            <a:pathLst>
              <a:path h="1409076" w="1894728">
                <a:moveTo>
                  <a:pt x="0" y="0"/>
                </a:moveTo>
                <a:lnTo>
                  <a:pt x="1894727" y="0"/>
                </a:lnTo>
                <a:lnTo>
                  <a:pt x="1894727" y="1409076"/>
                </a:lnTo>
                <a:lnTo>
                  <a:pt x="0" y="140907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571" t="0" r="0" b="-2683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086864" y="8672721"/>
            <a:ext cx="3293369" cy="171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49" i="true" u="sng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Hypotheses:</a:t>
            </a:r>
          </a:p>
          <a:p>
            <a:pPr algn="l">
              <a:lnSpc>
                <a:spcPts val="1189"/>
              </a:lnSpc>
            </a:pPr>
            <a:r>
              <a:rPr lang="en-US" sz="849" i="true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    </a:t>
            </a:r>
            <a:r>
              <a:rPr lang="en-US" sz="849" i="true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H0: AI topic and receiving at least one like are independent.</a:t>
            </a:r>
          </a:p>
          <a:p>
            <a:pPr algn="ctr">
              <a:lnSpc>
                <a:spcPts val="1189"/>
              </a:lnSpc>
            </a:pPr>
            <a:r>
              <a:rPr lang="en-US" sz="849" i="true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HA: AI topic and receiving at least one like are associated.</a:t>
            </a:r>
          </a:p>
          <a:p>
            <a:pPr algn="ctr">
              <a:lnSpc>
                <a:spcPts val="1189"/>
              </a:lnSpc>
            </a:pPr>
          </a:p>
          <a:p>
            <a:pPr algn="ctr">
              <a:lnSpc>
                <a:spcPts val="1189"/>
              </a:lnSpc>
              <a:spcBef>
                <a:spcPct val="0"/>
              </a:spcBef>
            </a:pPr>
            <a:r>
              <a:rPr lang="en-US" sz="849" i="true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A </a:t>
            </a:r>
            <a:r>
              <a:rPr lang="en-US" sz="849" i="true" u="sng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chi-squared test of independence</a:t>
            </a:r>
            <a:r>
              <a:rPr lang="en-US" sz="849" i="true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 was used to comp</a:t>
            </a:r>
            <a:r>
              <a:rPr lang="en-US" sz="849" i="true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are AI topic with whether a post received at least one like. The test produced χ² = 5.84 with a simulated p-value ≈ 0.058. </a:t>
            </a:r>
          </a:p>
          <a:p>
            <a:pPr algn="l">
              <a:lnSpc>
                <a:spcPts val="1189"/>
              </a:lnSpc>
              <a:spcBef>
                <a:spcPct val="0"/>
              </a:spcBef>
            </a:pPr>
            <a:r>
              <a:rPr lang="en-US" sz="849" i="true" u="sng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Finding:</a:t>
            </a:r>
          </a:p>
          <a:p>
            <a:pPr algn="ctr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Because p &gt; 0.05, we fail to reject H₀. There was insufficient evidence that receiving at least one like was associated with the AI topic discussed.</a:t>
            </a:r>
          </a:p>
          <a:p>
            <a:pPr algn="ctr">
              <a:lnSpc>
                <a:spcPts val="118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8580" y="869058"/>
            <a:ext cx="2482464" cy="62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Aim: </a:t>
            </a:r>
          </a:p>
          <a:p>
            <a:pPr algn="l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Investigate how generative AI is discussed on Bluesky through engagement, text content, clustering and user-network structure.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4204" y="1548422"/>
            <a:ext cx="1430771" cy="91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Data Collection </a:t>
            </a:r>
          </a:p>
          <a:p>
            <a:pPr algn="l">
              <a:lnSpc>
                <a:spcPts val="1189"/>
              </a:lnSpc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Bluesky via atrrr</a:t>
            </a:r>
          </a:p>
          <a:p>
            <a:pPr algn="l">
              <a:lnSpc>
                <a:spcPts val="1189"/>
              </a:lnSpc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• </a:t>
            </a: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ChatGPT: 297 posts</a:t>
            </a:r>
          </a:p>
          <a:p>
            <a:pPr algn="l">
              <a:lnSpc>
                <a:spcPts val="1189"/>
              </a:lnSpc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• Claude AI: 200 posts</a:t>
            </a:r>
          </a:p>
          <a:p>
            <a:pPr algn="l">
              <a:lnSpc>
                <a:spcPts val="1189"/>
              </a:lnSpc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• Google Gemini: 200 posts</a:t>
            </a:r>
          </a:p>
          <a:p>
            <a:pPr algn="l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•</a:t>
            </a:r>
            <a:r>
              <a:rPr lang="en-US" sz="849" i="true" u="sng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 697 posts total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94312" y="7882235"/>
            <a:ext cx="1655974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Hypothesis testing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037053" y="8149669"/>
            <a:ext cx="3316108" cy="41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"/>
              </a:lnSpc>
              <a:spcBef>
                <a:spcPct val="0"/>
              </a:spcBef>
            </a:pP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Is receiving at least one like independent of the generative-AI topic being discussed (ChatGPT, Claude AI or Google Gemini)? </a:t>
            </a:r>
          </a:p>
          <a:p>
            <a:pPr algn="ctr">
              <a:lnSpc>
                <a:spcPts val="1190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51409" y="10210768"/>
            <a:ext cx="3861967" cy="41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ChatGPT had the highest observed engagement rate (38.0%), followed by Gemini (31.5%) and Claude (28.0%). However, these differences were not statistically significant.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23523" y="3357056"/>
            <a:ext cx="2244552" cy="56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Which users are the most structurally important within a Bluesky follow network surrounding generative-AI discussions? </a:t>
            </a:r>
          </a:p>
          <a:p>
            <a:pPr algn="ctr">
              <a:lnSpc>
                <a:spcPts val="1189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649952" y="3392568"/>
            <a:ext cx="1862183" cy="56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Can generative-AI posts be grouped into meaningful clusters based on similarities in their textual content?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655715" y="6035025"/>
            <a:ext cx="2061247" cy="171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The sampled Bluesky follow network contained </a:t>
            </a:r>
            <a:r>
              <a:rPr lang="en-US" sz="849" u="sng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177 users</a:t>
            </a: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 and </a:t>
            </a:r>
            <a:r>
              <a:rPr lang="en-US" sz="849" u="sng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182 directed edges</a:t>
            </a: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, with a low density of </a:t>
            </a:r>
            <a:r>
              <a:rPr lang="en-US" sz="849" i="true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0.0058</a:t>
            </a: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, indicating a sparse network. bibivanderzee.bsky.social had the highest degree centrality (22), while theguardian.com had the highest closeness and betweenness centrality (323). </a:t>
            </a:r>
            <a:r>
              <a:rPr lang="en-US" sz="849" i="true" u="sng">
                <a:solidFill>
                  <a:srgbClr val="000000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Overall,</a:t>
            </a: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 most users had relatively few connections, while a small number of accounts occupied more structurally important positions.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02524" y="4108636"/>
            <a:ext cx="1601462" cy="12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Using K-Means Clustering, </a:t>
            </a:r>
            <a:r>
              <a:rPr lang="en-US" sz="850" u="sng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323 Sampled Posts</a:t>
            </a: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 were separated into </a:t>
            </a:r>
            <a:r>
              <a:rPr lang="en-US" sz="850" u="sng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5 clusters</a:t>
            </a: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.</a:t>
            </a:r>
          </a:p>
          <a:p>
            <a:pPr algn="l">
              <a:lnSpc>
                <a:spcPts val="1190"/>
              </a:lnSpc>
            </a:pP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The clustering contained 5 clusters, 3 of them very close together.</a:t>
            </a:r>
          </a:p>
          <a:p>
            <a:pPr algn="l">
              <a:lnSpc>
                <a:spcPts val="1190"/>
              </a:lnSpc>
              <a:spcBef>
                <a:spcPct val="0"/>
              </a:spcBef>
            </a:pP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The graph shows some degree of separation, but not clear enough to be distinct groups.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12049" y="5449125"/>
            <a:ext cx="1601462" cy="15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Using Hierarchical (Single) Clustering, </a:t>
            </a:r>
            <a:r>
              <a:rPr lang="en-US" sz="850" u="sng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10 Posts</a:t>
            </a: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 from each topic (ChatGPT, Claude, Gemini) were selected and were grouped into </a:t>
            </a:r>
            <a:r>
              <a:rPr lang="en-US" sz="850" u="sng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32 clusters</a:t>
            </a: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 by similarity.</a:t>
            </a:r>
          </a:p>
          <a:p>
            <a:pPr algn="l">
              <a:lnSpc>
                <a:spcPts val="1190"/>
              </a:lnSpc>
              <a:spcBef>
                <a:spcPct val="0"/>
              </a:spcBef>
            </a:pP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The Dendrogram suggests meaningful clusters are difficult to find due to many posts being merged at very high distances to each other.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1409" y="7209257"/>
            <a:ext cx="3462102" cy="56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"/>
              </a:lnSpc>
              <a:spcBef>
                <a:spcPct val="0"/>
              </a:spcBef>
            </a:pPr>
            <a:r>
              <a:rPr lang="en-US" sz="850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From both methods of clustering it is indicated that meaningful groups aren’t formed clearly despite some degree of separation as only a very small amount of posts were clearly separated while others cannot be grouped based on textual similarity alone.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16116" y="7042555"/>
            <a:ext cx="1593040" cy="70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The full network is sparse and branch-like, with most users having few connections and a small number linking the wider network together.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323523" y="842014"/>
            <a:ext cx="2236477" cy="41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What words </a:t>
            </a: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and themes are most prominent in Bluesky discussions about generative AI?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045094" y="1363421"/>
            <a:ext cx="4396595" cy="41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Non-Weighted Word Frequency: (Top 20 Decreasing Order)</a:t>
            </a:r>
          </a:p>
          <a:p>
            <a:pPr algn="l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googl, use, code, model, read, anthrop, can, like, say, just, ask, openai, work, know, make, data, bill, percent, agent, help.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045094" y="1826971"/>
            <a:ext cx="4396595" cy="56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TF-IDF Weighted Word Frequency: (Top 20 Decreasing Order)</a:t>
            </a:r>
          </a:p>
          <a:p>
            <a:pPr algn="l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opensubstackcompubthebulwa, read, googl, percent, bylin, discount, fell, bill, use, code, applenewsaacblbqqui, incroy, japanaicojpmedia, huh, olhardigitalcombri, source, anthrop, watch, say, artificialintellig.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043200" y="2515630"/>
            <a:ext cx="2200191" cy="70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  <a:spcBef>
                <a:spcPct val="0"/>
              </a:spcBef>
            </a:pPr>
            <a:r>
              <a:rPr lang="en-US" sz="849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Manhattan Multi Dimensional Scaling revealed points to be pushed towards the left of the visualisation. This suggests that posts discussing AI share similar words and language.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5464292" y="2317697"/>
            <a:ext cx="1305006" cy="977817"/>
          </a:xfrm>
          <a:custGeom>
            <a:avLst/>
            <a:gdLst/>
            <a:ahLst/>
            <a:cxnLst/>
            <a:rect r="r" b="b" t="t" l="l"/>
            <a:pathLst>
              <a:path h="977817" w="1305006">
                <a:moveTo>
                  <a:pt x="0" y="0"/>
                </a:moveTo>
                <a:lnTo>
                  <a:pt x="1305006" y="0"/>
                </a:lnTo>
                <a:lnTo>
                  <a:pt x="1305006" y="977817"/>
                </a:lnTo>
                <a:lnTo>
                  <a:pt x="0" y="97781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22" r="0" b="-2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DAHXHXfHCDY</dc:identifier>
  <dcterms:modified xsi:type="dcterms:W3CDTF">2011-08-01T06:04:30Z</dcterms:modified>
  <cp:revision>1</cp:revision>
  <dc:title>Group19 COMP3020 Social Web Analytics Poster</dc:title>
</cp:coreProperties>
</file>